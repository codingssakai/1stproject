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  <p:embeddedFont>
      <p:font typeface="Raleway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F91159-9628-46F4-B532-39C8BDAB3C20}">
  <a:tblStyle styleId="{ACF91159-9628-46F4-B532-39C8BDAB3C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906000-5A25-4880-9644-22E72745160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50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e21a4d595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e21a4d595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e21a4d595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e21a4d595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e21a4d595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e21a4d595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e21a4d595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6e21a4d595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e21a4d595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e21a4d595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e21a4d595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6e21a4d595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e21a4d595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e21a4d595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e21a4d595_0_20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6e21a4d595_0_20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e48dad3c6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6e48dad3c6_1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dd31707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6dd31707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e48dad3c6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e48dad3c6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e48dad3c6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6e48dad3c6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e48dad3c6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6e48dad3c6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6e48dad3c6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6e48dad3c6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 dirty="0">
                <a:latin typeface="Lato"/>
                <a:ea typeface="Lato"/>
                <a:cs typeface="Lato"/>
                <a:sym typeface="Lato"/>
              </a:rPr>
              <a:t>대한민국 외국인 입국자 수 </a:t>
            </a:r>
            <a:r>
              <a:rPr lang="ko-KR" altLang="en-US" b="1" dirty="0">
                <a:latin typeface="Lato"/>
                <a:ea typeface="Lato"/>
                <a:cs typeface="Lato"/>
                <a:sym typeface="Lato"/>
              </a:rPr>
              <a:t>빅데이터 </a:t>
            </a:r>
            <a:r>
              <a:rPr lang="ko-KR" altLang="en-US" b="1" dirty="0" err="1">
                <a:latin typeface="Lato"/>
                <a:ea typeface="Lato"/>
                <a:cs typeface="Lato"/>
                <a:sym typeface="Lato"/>
              </a:rPr>
              <a:t>예츠</a:t>
            </a:r>
            <a:endParaRPr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2025.07.25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body" idx="1"/>
          </p:nvPr>
        </p:nvSpPr>
        <p:spPr>
          <a:xfrm>
            <a:off x="1297500" y="1779425"/>
            <a:ext cx="3694500" cy="2964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000" b="1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1. 서론</a:t>
            </a:r>
            <a:endParaRPr sz="1000" b="1" dirty="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Montserrat"/>
              <a:buAutoNum type="alphaLcPeriod"/>
            </a:pPr>
            <a:r>
              <a:rPr lang="ko" sz="1000" dirty="0">
                <a:latin typeface="Montserrat"/>
                <a:ea typeface="Montserrat"/>
                <a:cs typeface="Montserrat"/>
                <a:sym typeface="Montserrat"/>
              </a:rPr>
              <a:t>주제 선정 및 배경</a:t>
            </a:r>
            <a:endParaRPr sz="10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AutoNum type="alphaLcPeriod"/>
            </a:pPr>
            <a:r>
              <a:rPr lang="ko" sz="1000" dirty="0">
                <a:latin typeface="Montserrat"/>
                <a:ea typeface="Montserrat"/>
                <a:cs typeface="Montserrat"/>
                <a:sym typeface="Montserrat"/>
              </a:rPr>
              <a:t>참조사례 </a:t>
            </a:r>
            <a:endParaRPr sz="10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AutoNum type="alphaLcPeriod"/>
            </a:pPr>
            <a:r>
              <a:rPr lang="ko" sz="1000" dirty="0">
                <a:latin typeface="Montserrat"/>
                <a:ea typeface="Montserrat"/>
                <a:cs typeface="Montserrat"/>
                <a:sym typeface="Montserrat"/>
              </a:rPr>
              <a:t>프로젝트 목적과 필요성</a:t>
            </a:r>
            <a:endParaRPr sz="10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AutoNum type="alphaLcPeriod"/>
            </a:pPr>
            <a:r>
              <a:rPr lang="ko" sz="1000" dirty="0">
                <a:latin typeface="Montserrat"/>
                <a:ea typeface="Montserrat"/>
                <a:cs typeface="Montserrat"/>
                <a:sym typeface="Montserrat"/>
              </a:rPr>
              <a:t>업무분장</a:t>
            </a:r>
            <a:endParaRPr sz="10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AutoNum type="alphaLcPeriod"/>
            </a:pPr>
            <a:r>
              <a:rPr lang="ko" sz="1000" dirty="0">
                <a:latin typeface="Montserrat"/>
                <a:ea typeface="Montserrat"/>
                <a:cs typeface="Montserrat"/>
                <a:sym typeface="Montserrat"/>
              </a:rPr>
              <a:t>Gantt Chart</a:t>
            </a:r>
            <a:endParaRPr dirty="0">
              <a:solidFill>
                <a:srgbClr val="756B5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AutoNum type="alphaLcPeriod"/>
            </a:pPr>
            <a:r>
              <a:rPr lang="ko" sz="1000" dirty="0">
                <a:latin typeface="Montserrat"/>
                <a:ea typeface="Montserrat"/>
                <a:cs typeface="Montserrat"/>
                <a:sym typeface="Montserrat"/>
              </a:rPr>
              <a:t>개발환경</a:t>
            </a:r>
            <a:endParaRPr sz="10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000" b="1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2. 데이터 전처리</a:t>
            </a:r>
            <a:endParaRPr sz="1000" b="1" dirty="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Montserrat"/>
              <a:buAutoNum type="alphaLcPeriod"/>
            </a:pPr>
            <a:r>
              <a:rPr lang="ko" sz="1000" dirty="0">
                <a:latin typeface="Montserrat"/>
                <a:ea typeface="Montserrat"/>
                <a:cs typeface="Montserrat"/>
                <a:sym typeface="Montserrat"/>
              </a:rPr>
              <a:t>개념정의</a:t>
            </a:r>
            <a:endParaRPr sz="10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AutoNum type="alphaLcPeriod"/>
            </a:pPr>
            <a:r>
              <a:rPr lang="ko" sz="1000" dirty="0">
                <a:latin typeface="Montserrat"/>
                <a:ea typeface="Montserrat"/>
                <a:cs typeface="Montserrat"/>
                <a:sym typeface="Montserrat"/>
              </a:rPr>
              <a:t>활용데이터</a:t>
            </a:r>
            <a:endParaRPr sz="10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AutoNum type="alphaLcPeriod"/>
            </a:pPr>
            <a:r>
              <a:rPr lang="ko" sz="1000" dirty="0">
                <a:latin typeface="Montserrat"/>
                <a:ea typeface="Montserrat"/>
                <a:cs typeface="Montserrat"/>
                <a:sym typeface="Montserrat"/>
              </a:rPr>
              <a:t>자료 정제 및 병합</a:t>
            </a:r>
            <a:endParaRPr sz="10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AutoNum type="alphaLcPeriod"/>
            </a:pPr>
            <a:r>
              <a:rPr lang="ko" sz="1000" dirty="0">
                <a:latin typeface="Montserrat"/>
                <a:ea typeface="Montserrat"/>
                <a:cs typeface="Montserrat"/>
                <a:sym typeface="Montserrat"/>
              </a:rPr>
              <a:t>가증치 산풀을 위한 상관분석 및 그룹화 시각화</a:t>
            </a:r>
            <a:endParaRPr sz="10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AutoNum type="alphaLcPeriod"/>
            </a:pPr>
            <a:r>
              <a:rPr lang="ko" sz="1000" dirty="0">
                <a:latin typeface="Montserrat"/>
                <a:ea typeface="Montserrat"/>
                <a:cs typeface="Montserrat"/>
                <a:sym typeface="Montserrat"/>
              </a:rPr>
              <a:t>키워드 분석 및 트랜드 분석</a:t>
            </a:r>
            <a:endParaRPr sz="1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1297500" y="172524"/>
            <a:ext cx="7038900" cy="861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4400" dirty="0"/>
              <a:t>목 차</a:t>
            </a:r>
            <a:endParaRPr sz="4400" dirty="0"/>
          </a:p>
        </p:txBody>
      </p:sp>
      <p:sp>
        <p:nvSpPr>
          <p:cNvPr id="142" name="Google Shape;142;p14"/>
          <p:cNvSpPr txBox="1"/>
          <p:nvPr/>
        </p:nvSpPr>
        <p:spPr>
          <a:xfrm>
            <a:off x="5118975" y="1779425"/>
            <a:ext cx="3694500" cy="1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chemeClr val="accent2"/>
                </a:solidFill>
              </a:rPr>
              <a:t>3. ML &amp; DL 구현</a:t>
            </a:r>
            <a:endParaRPr sz="1000" b="1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1000" b="1">
              <a:solidFill>
                <a:schemeClr val="accent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000"/>
              <a:buAutoNum type="alphaLcPeriod"/>
            </a:pPr>
            <a:r>
              <a:rPr lang="ko" sz="1000">
                <a:solidFill>
                  <a:srgbClr val="FFFFFF"/>
                </a:solidFill>
              </a:rPr>
              <a:t>LSTM / GRU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1000" b="1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chemeClr val="accent2"/>
                </a:solidFill>
              </a:rPr>
              <a:t>4. 웹서비스 구현</a:t>
            </a:r>
            <a:endParaRPr sz="1000" b="1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1000" b="1">
              <a:solidFill>
                <a:schemeClr val="accent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000"/>
              <a:buAutoNum type="alphaLcPeriod"/>
            </a:pPr>
            <a:r>
              <a:rPr lang="ko" sz="1000">
                <a:solidFill>
                  <a:srgbClr val="FFFFFF"/>
                </a:solidFill>
              </a:rPr>
              <a:t>작업분할도 &amp; 순차 다이어그램 (UML)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AutoNum type="alphaLcPeriod"/>
            </a:pPr>
            <a:r>
              <a:rPr lang="ko" sz="1000">
                <a:solidFill>
                  <a:srgbClr val="FFFFFF"/>
                </a:solidFill>
              </a:rPr>
              <a:t>화면시연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>
            <a:spLocks noGrp="1"/>
          </p:cNvSpPr>
          <p:nvPr>
            <p:ph type="title"/>
          </p:nvPr>
        </p:nvSpPr>
        <p:spPr>
          <a:xfrm>
            <a:off x="1297500" y="360656"/>
            <a:ext cx="7688700" cy="553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dirty="0"/>
              <a:t>a</a:t>
            </a:r>
            <a:r>
              <a:rPr lang="ko" b="0" dirty="0"/>
              <a:t>. 주제선정 및 배경 </a:t>
            </a:r>
            <a:endParaRPr sz="1800" b="0" dirty="0"/>
          </a:p>
        </p:txBody>
      </p:sp>
      <p:sp>
        <p:nvSpPr>
          <p:cNvPr id="149" name="Google Shape;149;p15"/>
          <p:cNvSpPr txBox="1">
            <a:spLocks noGrp="1"/>
          </p:cNvSpPr>
          <p:nvPr>
            <p:ph type="body" idx="1"/>
          </p:nvPr>
        </p:nvSpPr>
        <p:spPr>
          <a:xfrm>
            <a:off x="1297500" y="1212455"/>
            <a:ext cx="7688700" cy="3724066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ko-KR" altLang="en-US" sz="2400" dirty="0"/>
              <a:t>팬데믹 이후 글로벌 관광시장과 한국 방문 외국인 입국자 수가 빠르게 증가하고 있음</a:t>
            </a:r>
          </a:p>
          <a:p>
            <a:r>
              <a:rPr lang="ko-KR" altLang="en-US" sz="2400" dirty="0"/>
              <a:t>정확한 입국자 예측은 정책 수립</a:t>
            </a:r>
            <a:r>
              <a:rPr lang="en-US" altLang="ko-KR" sz="2400" dirty="0"/>
              <a:t>, </a:t>
            </a:r>
            <a:r>
              <a:rPr lang="ko-KR" altLang="en-US" sz="2400" dirty="0"/>
              <a:t>공항</a:t>
            </a:r>
            <a:r>
              <a:rPr lang="en-US" altLang="ko-KR" sz="2400" dirty="0"/>
              <a:t>·</a:t>
            </a:r>
            <a:r>
              <a:rPr lang="ko-KR" altLang="en-US" sz="2400" dirty="0"/>
              <a:t>항만 운영</a:t>
            </a:r>
            <a:r>
              <a:rPr lang="en-US" altLang="ko-KR" sz="2400" dirty="0"/>
              <a:t>, </a:t>
            </a:r>
            <a:r>
              <a:rPr lang="ko-KR" altLang="en-US" sz="2400" dirty="0"/>
              <a:t>민간 관광</a:t>
            </a:r>
            <a:r>
              <a:rPr lang="en-US" altLang="ko-KR" sz="2400" dirty="0"/>
              <a:t>·</a:t>
            </a:r>
            <a:r>
              <a:rPr lang="ko-KR" altLang="en-US" sz="2400" dirty="0"/>
              <a:t>숙박업 수요 예측 등에 필수적</a:t>
            </a:r>
          </a:p>
          <a:p>
            <a:r>
              <a:rPr lang="ko-KR" altLang="en-US" sz="2400" dirty="0"/>
              <a:t>본 프로젝트는</a:t>
            </a:r>
          </a:p>
          <a:p>
            <a:pPr lvl="1"/>
            <a:r>
              <a:rPr lang="ko-KR" altLang="en-US" sz="2000" b="1" dirty="0"/>
              <a:t>공공 데이터</a:t>
            </a:r>
            <a:r>
              <a:rPr lang="ko-KR" altLang="en-US" sz="2000" dirty="0"/>
              <a:t>와  딥러닝</a:t>
            </a:r>
            <a:r>
              <a:rPr lang="en-US" altLang="ko-KR" sz="2000" dirty="0"/>
              <a:t>(LSTM, GRU, Transformer </a:t>
            </a:r>
            <a:r>
              <a:rPr lang="ko-KR" altLang="en-US" sz="2000" dirty="0"/>
              <a:t>등</a:t>
            </a:r>
            <a:r>
              <a:rPr lang="en-US" altLang="ko-KR" sz="2000" dirty="0"/>
              <a:t>)</a:t>
            </a:r>
            <a:r>
              <a:rPr lang="ko-KR" altLang="en-US" sz="2000" dirty="0"/>
              <a:t>을 활용해</a:t>
            </a:r>
          </a:p>
          <a:p>
            <a:pPr lvl="1"/>
            <a:r>
              <a:rPr lang="ko-KR" altLang="en-US" sz="2000" b="1" dirty="0"/>
              <a:t>국가별</a:t>
            </a:r>
            <a:r>
              <a:rPr lang="en-US" altLang="ko-KR" sz="2000" b="1" dirty="0"/>
              <a:t>·</a:t>
            </a:r>
            <a:r>
              <a:rPr lang="ko-KR" altLang="en-US" sz="2000" b="1" dirty="0"/>
              <a:t>목적별 외국인 입국자 수를 예측</a:t>
            </a:r>
            <a:r>
              <a:rPr lang="ko-KR" altLang="en-US" sz="2000" dirty="0"/>
              <a:t>하고</a:t>
            </a:r>
          </a:p>
          <a:p>
            <a:pPr lvl="1"/>
            <a:r>
              <a:rPr lang="ko-KR" altLang="en-US" sz="2000" dirty="0"/>
              <a:t>데이터 기반 관광산업 전략 수립을 지원함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ko"/>
              <a:t>서론</a:t>
            </a:r>
            <a:endParaRPr/>
          </a:p>
        </p:txBody>
      </p:sp>
      <p:pic>
        <p:nvPicPr>
          <p:cNvPr id="155" name="Google Shape;155;p16" title="스크린샷 2025-07-08 오후 3.57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50" y="2129300"/>
            <a:ext cx="2873277" cy="2516901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6" name="Google Shape;156;p16" title="스크린샷 2025-07-08 오후 3.58.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6775" y="2129300"/>
            <a:ext cx="2873277" cy="2511307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7" name="Google Shape;157;p16" title="스크린샷 2025-07-08 오후 3.59.2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3400" y="2129300"/>
            <a:ext cx="2822835" cy="2511299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8" name="Google Shape;158;p16"/>
          <p:cNvSpPr txBox="1">
            <a:spLocks noGrp="1"/>
          </p:cNvSpPr>
          <p:nvPr>
            <p:ph type="title"/>
          </p:nvPr>
        </p:nvSpPr>
        <p:spPr>
          <a:xfrm>
            <a:off x="1297500" y="971238"/>
            <a:ext cx="7688700" cy="4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940"/>
              <a:t>b</a:t>
            </a:r>
            <a:r>
              <a:rPr lang="ko" sz="1940" b="0"/>
              <a:t>. </a:t>
            </a:r>
            <a:r>
              <a:rPr lang="ko" sz="1940"/>
              <a:t>참조 사례</a:t>
            </a:r>
            <a:endParaRPr sz="1490" b="0"/>
          </a:p>
        </p:txBody>
      </p:sp>
      <p:sp>
        <p:nvSpPr>
          <p:cNvPr id="159" name="Google Shape;159;p16"/>
          <p:cNvSpPr txBox="1"/>
          <p:nvPr/>
        </p:nvSpPr>
        <p:spPr>
          <a:xfrm>
            <a:off x="100150" y="1599475"/>
            <a:ext cx="2873400" cy="3849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한국관광데이터랩</a:t>
            </a: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3136713" y="1599475"/>
            <a:ext cx="2873400" cy="3849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관광지식정보시스템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6148100" y="1599475"/>
            <a:ext cx="2873400" cy="3849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KOSIS 국가통계포털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ko" dirty="0"/>
              <a:t>서론</a:t>
            </a:r>
            <a:endParaRPr dirty="0"/>
          </a:p>
        </p:txBody>
      </p:sp>
      <p:sp>
        <p:nvSpPr>
          <p:cNvPr id="167" name="Google Shape;167;p17"/>
          <p:cNvSpPr txBox="1"/>
          <p:nvPr/>
        </p:nvSpPr>
        <p:spPr>
          <a:xfrm>
            <a:off x="1297500" y="2186850"/>
            <a:ext cx="768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국가별, 목적별 방한 외국인 입국 데이터를 활용하여 월별/연도별 입국자 수를 예측</a:t>
            </a: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1297500" y="2820025"/>
            <a:ext cx="768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LSTM, GRU 등 딥러닝 시계열 예측 모델을 통해 기존 단순 트렌드 분석을 넘어선 정량적 수요 예측 모델을 구현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1297500" y="3453200"/>
            <a:ext cx="768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예측 결과를 통해 국가별, 목적별 마케팅/인프라 투자 우선순위를 도출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1297500" y="971238"/>
            <a:ext cx="7688700" cy="4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940" dirty="0"/>
              <a:t>c</a:t>
            </a:r>
            <a:r>
              <a:rPr lang="ko" sz="1940" b="0" dirty="0"/>
              <a:t>. </a:t>
            </a:r>
            <a:r>
              <a:rPr lang="ko" sz="1940" dirty="0"/>
              <a:t>프로젝트 목적과 필요성</a:t>
            </a:r>
            <a:endParaRPr sz="1490" b="0" dirty="0"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500" dirty="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목적</a:t>
            </a:r>
            <a:endParaRPr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ko"/>
              <a:t>서론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27650" y="2953900"/>
            <a:ext cx="768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729450" y="3497900"/>
            <a:ext cx="768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727650" y="4041900"/>
            <a:ext cx="768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1297500" y="971238"/>
            <a:ext cx="7688700" cy="4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940"/>
              <a:t>c</a:t>
            </a:r>
            <a:r>
              <a:rPr lang="ko" sz="1940" b="0"/>
              <a:t>. </a:t>
            </a:r>
            <a:r>
              <a:rPr lang="ko" sz="1940"/>
              <a:t>프로젝트 목적과 필요성</a:t>
            </a:r>
            <a:endParaRPr sz="1490" b="0"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4294967295"/>
          </p:nvPr>
        </p:nvSpPr>
        <p:spPr>
          <a:xfrm>
            <a:off x="1297500" y="1567550"/>
            <a:ext cx="70389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5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필요성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1297500" y="2186850"/>
            <a:ext cx="768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</a:rPr>
              <a:t>급변하는 글로벌 관광 시장에서 실시간 데이터 기반 예측이 필수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1297500" y="2820025"/>
            <a:ext cx="768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</a:rPr>
              <a:t>계절성, 대규모 이벤트 등 복합 요인이 입국자 수에 미치는 영향을 정량적으로 반영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1297500" y="3453200"/>
            <a:ext cx="768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</a:rPr>
              <a:t>불확실성을 줄여 관광 산업 및 관련 민간 기업의 재고(객실, 좌석 등)와 인력 운용을 최적화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1297500" y="4041900"/>
            <a:ext cx="768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</a:rPr>
              <a:t>향후 국가별 신규 타깃 마케팅, 위기 대응 전략(예: 특정 국가 입국 제한 시 대체시장 발굴 등)을 위한 기초 자료로 활용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/>
          <p:nvPr/>
        </p:nvSpPr>
        <p:spPr>
          <a:xfrm>
            <a:off x="2616025" y="2330225"/>
            <a:ext cx="1859100" cy="224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Lato"/>
                <a:ea typeface="Lato"/>
                <a:cs typeface="Lato"/>
                <a:sym typeface="Lato"/>
              </a:rPr>
              <a:t>◼︎ 데이터준비 / 전처리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데이터 준비 / CSV 구조파악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데이터 전처리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Lato"/>
                <a:ea typeface="Lato"/>
                <a:cs typeface="Lato"/>
                <a:sym typeface="Lato"/>
              </a:rPr>
              <a:t>◼︎ 모델링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LSTM/GRU/Tranformer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여러 버전 학습 &amp; 비교 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최종 모델 체크 포인트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Lato"/>
                <a:ea typeface="Lato"/>
                <a:cs typeface="Lato"/>
                <a:sym typeface="Lato"/>
              </a:rPr>
              <a:t>◼︎ 웹페이지 - flask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예측 입력 / 결과 출력 페이지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DB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배포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ko"/>
              <a:t>서론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563200" y="1863200"/>
            <a:ext cx="1859100" cy="39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Lato"/>
                <a:ea typeface="Lato"/>
                <a:cs typeface="Lato"/>
                <a:sym typeface="Lato"/>
              </a:rPr>
              <a:t>김 진 경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2616025" y="1863200"/>
            <a:ext cx="1859100" cy="39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Lato"/>
                <a:ea typeface="Lato"/>
                <a:cs typeface="Lato"/>
                <a:sym typeface="Lato"/>
              </a:rPr>
              <a:t>김 민 준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4668850" y="1863200"/>
            <a:ext cx="1859100" cy="39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Lato"/>
                <a:ea typeface="Lato"/>
                <a:cs typeface="Lato"/>
                <a:sym typeface="Lato"/>
              </a:rPr>
              <a:t>장 선 호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6721675" y="1863200"/>
            <a:ext cx="1859100" cy="39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Lato"/>
                <a:ea typeface="Lato"/>
                <a:cs typeface="Lato"/>
                <a:sym typeface="Lato"/>
              </a:rPr>
              <a:t>한 창 희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19"/>
          <p:cNvSpPr txBox="1">
            <a:spLocks noGrp="1"/>
          </p:cNvSpPr>
          <p:nvPr>
            <p:ph type="title"/>
          </p:nvPr>
        </p:nvSpPr>
        <p:spPr>
          <a:xfrm>
            <a:off x="1297500" y="971238"/>
            <a:ext cx="7688700" cy="4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940"/>
              <a:t>d</a:t>
            </a:r>
            <a:r>
              <a:rPr lang="ko" sz="1940" b="0"/>
              <a:t>. </a:t>
            </a:r>
            <a:r>
              <a:rPr lang="ko" sz="1940"/>
              <a:t>업무 분장</a:t>
            </a:r>
            <a:endParaRPr sz="1490" b="0"/>
          </a:p>
        </p:txBody>
      </p:sp>
      <p:sp>
        <p:nvSpPr>
          <p:cNvPr id="197" name="Google Shape;197;p19"/>
          <p:cNvSpPr/>
          <p:nvPr/>
        </p:nvSpPr>
        <p:spPr>
          <a:xfrm>
            <a:off x="6721675" y="2330225"/>
            <a:ext cx="1859100" cy="224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Lato"/>
                <a:ea typeface="Lato"/>
                <a:cs typeface="Lato"/>
                <a:sym typeface="Lato"/>
              </a:rPr>
              <a:t>◼︎ 데이터준비 / 전처리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데이터 준비 / CSV 구조파악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데이터 전처리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Lato"/>
                <a:ea typeface="Lato"/>
                <a:cs typeface="Lato"/>
                <a:sym typeface="Lato"/>
              </a:rPr>
              <a:t>◼︎ 모델링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LSTM/GRU/Tranformer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여러 버전 학습 &amp; 비교 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최종 모델 체크 포인트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Lato"/>
                <a:ea typeface="Lato"/>
                <a:cs typeface="Lato"/>
                <a:sym typeface="Lato"/>
              </a:rPr>
              <a:t>◼︎ 웹페이지 - flask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예측 입력 / 결과 출력 페이지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DB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배포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563200" y="2330225"/>
            <a:ext cx="1859100" cy="224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Lato"/>
                <a:ea typeface="Lato"/>
                <a:cs typeface="Lato"/>
                <a:sym typeface="Lato"/>
              </a:rPr>
              <a:t>◼︎ 데이터준비 / 전처리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데이터 준비 / CSV 구조파악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데이터 전처리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Lato"/>
                <a:ea typeface="Lato"/>
                <a:cs typeface="Lato"/>
                <a:sym typeface="Lato"/>
              </a:rPr>
              <a:t>◼︎ 모델링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LSTM/GRU/Tranformer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여러 버전 학습 &amp; 비교 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최종 모델 체크 포인트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Lato"/>
                <a:ea typeface="Lato"/>
                <a:cs typeface="Lato"/>
                <a:sym typeface="Lato"/>
              </a:rPr>
              <a:t>◼︎ 웹페이지 - flask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예측 입력 / 결과 출력 페이지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DB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배포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4668850" y="2330225"/>
            <a:ext cx="1859100" cy="224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Lato"/>
                <a:ea typeface="Lato"/>
                <a:cs typeface="Lato"/>
                <a:sym typeface="Lato"/>
              </a:rPr>
              <a:t>◼︎ 데이터준비 / 전처리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데이터 준비 / CSV 구조파악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데이터 전처리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Lato"/>
                <a:ea typeface="Lato"/>
                <a:cs typeface="Lato"/>
                <a:sym typeface="Lato"/>
              </a:rPr>
              <a:t>◼︎ 모델링</a:t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LSTM/GRU/Tranformer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여러 버전 학습 &amp; 비교 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최종 모델 체크 포인트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Lato"/>
                <a:ea typeface="Lato"/>
                <a:cs typeface="Lato"/>
                <a:sym typeface="Lato"/>
              </a:rPr>
              <a:t>◼︎ 웹페이지 - flask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예측 입력 / 결과 출력 페이지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DB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Lato"/>
                <a:ea typeface="Lato"/>
                <a:cs typeface="Lato"/>
                <a:sym typeface="Lato"/>
              </a:rPr>
              <a:t>       - 배포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ko"/>
              <a:t>서론</a:t>
            </a:r>
            <a:endParaRPr/>
          </a:p>
        </p:txBody>
      </p:sp>
      <p:sp>
        <p:nvSpPr>
          <p:cNvPr id="205" name="Google Shape;205;p20"/>
          <p:cNvSpPr txBox="1">
            <a:spLocks noGrp="1"/>
          </p:cNvSpPr>
          <p:nvPr>
            <p:ph type="title"/>
          </p:nvPr>
        </p:nvSpPr>
        <p:spPr>
          <a:xfrm>
            <a:off x="1297500" y="971238"/>
            <a:ext cx="7688700" cy="4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940"/>
              <a:t>e</a:t>
            </a:r>
            <a:r>
              <a:rPr lang="ko" sz="1940" b="0"/>
              <a:t>. Gantt Chart</a:t>
            </a:r>
            <a:endParaRPr sz="1490" b="0"/>
          </a:p>
        </p:txBody>
      </p:sp>
      <p:pic>
        <p:nvPicPr>
          <p:cNvPr id="206" name="Google Shape;206;p20" title="스크린샷 2025-07-09 오후 2.14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99038"/>
            <a:ext cx="8839204" cy="3219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ko"/>
              <a:t>서론</a:t>
            </a:r>
            <a:endParaRPr/>
          </a:p>
        </p:txBody>
      </p:sp>
      <p:sp>
        <p:nvSpPr>
          <p:cNvPr id="212" name="Google Shape;212;p21"/>
          <p:cNvSpPr txBox="1">
            <a:spLocks noGrp="1"/>
          </p:cNvSpPr>
          <p:nvPr>
            <p:ph type="title"/>
          </p:nvPr>
        </p:nvSpPr>
        <p:spPr>
          <a:xfrm>
            <a:off x="1297500" y="971238"/>
            <a:ext cx="7688700" cy="4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940"/>
              <a:t>f</a:t>
            </a:r>
            <a:r>
              <a:rPr lang="ko" sz="1940" b="0"/>
              <a:t>. </a:t>
            </a:r>
            <a:r>
              <a:rPr lang="ko" sz="1940"/>
              <a:t>개발 환경</a:t>
            </a:r>
            <a:endParaRPr sz="1490" b="0"/>
          </a:p>
        </p:txBody>
      </p:sp>
      <p:graphicFrame>
        <p:nvGraphicFramePr>
          <p:cNvPr id="213" name="Google Shape;213;p21"/>
          <p:cNvGraphicFramePr/>
          <p:nvPr/>
        </p:nvGraphicFramePr>
        <p:xfrm>
          <a:off x="1297500" y="165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{ACF91159-9628-46F4-B532-39C8BDAB3C20}</a:tableStyleId>
              </a:tblPr>
              <a:tblGrid>
                <a:gridCol w="133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lt1"/>
                          </a:solidFill>
                        </a:rPr>
                        <a:t>OS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lt1"/>
                          </a:solidFill>
                        </a:rPr>
                        <a:t>Window 10 pro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lt1"/>
                          </a:solidFill>
                        </a:rPr>
                        <a:t>Language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lt1"/>
                          </a:solidFill>
                        </a:rPr>
                        <a:t>Python 3.11.13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lt1"/>
                          </a:solidFill>
                        </a:rPr>
                        <a:t>IDE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lt1"/>
                          </a:solidFill>
                        </a:rPr>
                        <a:t>Anaconda Jupyter NoteBook, Vscode, Cursor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5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lt1"/>
                          </a:solidFill>
                        </a:rPr>
                        <a:t>Open Source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1300">
                          <a:solidFill>
                            <a:schemeClr val="lt1"/>
                          </a:solidFill>
                        </a:rPr>
                        <a:t>numpy==1.24.4, pandas==1.5.3, matplotlib==3.6.3, seaborn==0.12.2, scipy==1.10.0, scikit-learn==1.2.1, tensorflow==2.10, openpyxl==3.1.1, xlrd==2.0.1, requests==2.28.2, cx-Oracle==8.3.0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chemeClr val="lt1"/>
                          </a:solidFill>
                        </a:rPr>
                        <a:t>FrameWork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1300">
                          <a:solidFill>
                            <a:schemeClr val="lt1"/>
                          </a:solidFill>
                        </a:rPr>
                        <a:t>flask==2.2.3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/>
        </p:nvSpPr>
        <p:spPr>
          <a:xfrm>
            <a:off x="1344625" y="1566500"/>
            <a:ext cx="30000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chemeClr val="lt1"/>
                </a:solidFill>
              </a:rPr>
              <a:t>1. 데이터 로드 및 클리닝</a:t>
            </a:r>
            <a:endParaRPr sz="700" b="1">
              <a:solidFill>
                <a:schemeClr val="lt1"/>
              </a:solidFill>
            </a:endParaRPr>
          </a:p>
          <a:p>
            <a:pPr marL="457200" lvl="0" indent="-2730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</a:pPr>
            <a:r>
              <a:rPr lang="ko" sz="700">
                <a:solidFill>
                  <a:schemeClr val="lt1"/>
                </a:solidFill>
              </a:rPr>
              <a:t>다중 인코딩 방식 시도 (utf-8, cp949, euc-kr, latin-1)</a:t>
            </a:r>
            <a:endParaRPr sz="700">
              <a:solidFill>
                <a:schemeClr val="lt1"/>
              </a:solidFill>
            </a:endParaRPr>
          </a:p>
          <a:p>
            <a:pPr marL="45720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</a:pPr>
            <a:r>
              <a:rPr lang="ko" sz="700">
                <a:solidFill>
                  <a:schemeClr val="lt1"/>
                </a:solidFill>
              </a:rPr>
              <a:t>단위 정보 행 제거 및 컬럼명 정리</a:t>
            </a:r>
            <a:endParaRPr sz="700">
              <a:solidFill>
                <a:schemeClr val="lt1"/>
              </a:solidFill>
            </a:endParaRPr>
          </a:p>
          <a:p>
            <a:pPr marL="45720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</a:pPr>
            <a:r>
              <a:rPr lang="ko" sz="700">
                <a:solidFill>
                  <a:schemeClr val="lt1"/>
                </a:solidFill>
              </a:rPr>
              <a:t>공백 문자 제거 및 NaN 값 처리</a:t>
            </a:r>
            <a:endParaRPr sz="7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chemeClr val="lt1"/>
                </a:solidFill>
              </a:rPr>
              <a:t>2. 불필요한 항목 제거</a:t>
            </a:r>
            <a:endParaRPr sz="700" b="1">
              <a:solidFill>
                <a:schemeClr val="lt1"/>
              </a:solidFill>
            </a:endParaRPr>
          </a:p>
          <a:p>
            <a:pPr marL="457200" lvl="0" indent="-2730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</a:pPr>
            <a:r>
              <a:rPr lang="ko" sz="700">
                <a:solidFill>
                  <a:schemeClr val="lt1"/>
                </a:solidFill>
              </a:rPr>
              <a:t>소계/합계/교포/계 등 집계성 데이터 제거</a:t>
            </a:r>
            <a:endParaRPr sz="700">
              <a:solidFill>
                <a:schemeClr val="lt1"/>
              </a:solidFill>
            </a:endParaRPr>
          </a:p>
          <a:p>
            <a:pPr marL="45720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</a:pPr>
            <a:r>
              <a:rPr lang="ko" sz="700">
                <a:solidFill>
                  <a:schemeClr val="lt1"/>
                </a:solidFill>
              </a:rPr>
              <a:t>18개 키워드 패턴 기반 자동 제거 (대륙별 집계 포함)</a:t>
            </a:r>
            <a:endParaRPr sz="700">
              <a:solidFill>
                <a:schemeClr val="lt1"/>
              </a:solidFill>
            </a:endParaRPr>
          </a:p>
          <a:p>
            <a:pPr marL="45720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</a:pPr>
            <a:r>
              <a:rPr lang="ko" sz="700">
                <a:solidFill>
                  <a:schemeClr val="lt1"/>
                </a:solidFill>
              </a:rPr>
              <a:t>딥러닝 모델에 불필요한 메타데이터 제거</a:t>
            </a:r>
            <a:endParaRPr sz="7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chemeClr val="lt1"/>
                </a:solidFill>
              </a:rPr>
              <a:t>3. Wide to Long 포맷 변환</a:t>
            </a:r>
            <a:endParaRPr sz="700" b="1">
              <a:solidFill>
                <a:schemeClr val="lt1"/>
              </a:solidFill>
            </a:endParaRPr>
          </a:p>
          <a:p>
            <a:pPr marL="457200" lvl="0" indent="-2730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</a:pPr>
            <a:r>
              <a:rPr lang="ko" sz="700">
                <a:solidFill>
                  <a:schemeClr val="lt1"/>
                </a:solidFill>
              </a:rPr>
              <a:t>연월별 컬럼을 행 단위로 변환</a:t>
            </a:r>
            <a:endParaRPr sz="700">
              <a:solidFill>
                <a:schemeClr val="lt1"/>
              </a:solidFill>
            </a:endParaRPr>
          </a:p>
          <a:p>
            <a:pPr marL="45720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</a:pPr>
            <a:r>
              <a:rPr lang="ko" sz="700">
                <a:solidFill>
                  <a:schemeClr val="lt1"/>
                </a:solidFill>
              </a:rPr>
              <a:t>입국자수 데이터 숫자형 변환</a:t>
            </a:r>
            <a:endParaRPr sz="700">
              <a:solidFill>
                <a:schemeClr val="lt1"/>
              </a:solidFill>
            </a:endParaRPr>
          </a:p>
          <a:p>
            <a:pPr marL="45720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</a:pPr>
            <a:r>
              <a:rPr lang="ko" sz="700">
                <a:solidFill>
                  <a:schemeClr val="lt1"/>
                </a:solidFill>
              </a:rPr>
              <a:t>날짜 형식 표준화 (YYYY-MM 포맷)</a:t>
            </a:r>
            <a:endParaRPr sz="7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chemeClr val="lt1"/>
                </a:solidFill>
              </a:rPr>
              <a:t>4. 날짜 특성 변수 생성</a:t>
            </a:r>
            <a:endParaRPr sz="700" b="1">
              <a:solidFill>
                <a:schemeClr val="lt1"/>
              </a:solidFill>
            </a:endParaRPr>
          </a:p>
          <a:p>
            <a:pPr marL="457200" lvl="0" indent="-2730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</a:pPr>
            <a:r>
              <a:rPr lang="ko" sz="700">
                <a:solidFill>
                  <a:schemeClr val="lt1"/>
                </a:solidFill>
              </a:rPr>
              <a:t>연도, 월, 분기, 계절 변수 추가</a:t>
            </a:r>
            <a:endParaRPr sz="700">
              <a:solidFill>
                <a:schemeClr val="lt1"/>
              </a:solidFill>
            </a:endParaRPr>
          </a:p>
          <a:p>
            <a:pPr marL="45720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</a:pPr>
            <a:r>
              <a:rPr lang="ko" sz="700">
                <a:solidFill>
                  <a:schemeClr val="lt1"/>
                </a:solidFill>
              </a:rPr>
              <a:t>코로나 기간 구분 변수 (2020-03-01 ~ 2022-06-30)</a:t>
            </a:r>
            <a:endParaRPr sz="700">
              <a:solidFill>
                <a:schemeClr val="lt1"/>
              </a:solidFill>
            </a:endParaRPr>
          </a:p>
          <a:p>
            <a:pPr marL="45720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</a:pPr>
            <a:r>
              <a:rPr lang="ko" sz="700">
                <a:solidFill>
                  <a:schemeClr val="lt1"/>
                </a:solidFill>
              </a:rPr>
              <a:t>시계열 순서 변수 (국적-목적 그룹별)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9" name="Google Shape;219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  </a:t>
            </a:r>
            <a:r>
              <a:rPr lang="ko" b="1">
                <a:latin typeface="Arial"/>
                <a:ea typeface="Arial"/>
                <a:cs typeface="Arial"/>
                <a:sym typeface="Arial"/>
              </a:rPr>
              <a:t>ML &amp; DL 구현</a:t>
            </a:r>
            <a:endParaRPr/>
          </a:p>
        </p:txBody>
      </p:sp>
      <p:sp>
        <p:nvSpPr>
          <p:cNvPr id="220" name="Google Shape;220;p22"/>
          <p:cNvSpPr txBox="1">
            <a:spLocks noGrp="1"/>
          </p:cNvSpPr>
          <p:nvPr>
            <p:ph type="title"/>
          </p:nvPr>
        </p:nvSpPr>
        <p:spPr>
          <a:xfrm>
            <a:off x="1297500" y="971238"/>
            <a:ext cx="7688700" cy="4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940"/>
              <a:t>a</a:t>
            </a:r>
            <a:r>
              <a:rPr lang="ko" sz="1940" b="0"/>
              <a:t>. </a:t>
            </a:r>
            <a:r>
              <a:rPr lang="ko" sz="1940"/>
              <a:t>데이터 전처리</a:t>
            </a:r>
            <a:endParaRPr sz="1490" b="0"/>
          </a:p>
        </p:txBody>
      </p:sp>
      <p:sp>
        <p:nvSpPr>
          <p:cNvPr id="221" name="Google Shape;221;p22"/>
          <p:cNvSpPr txBox="1"/>
          <p:nvPr/>
        </p:nvSpPr>
        <p:spPr>
          <a:xfrm>
            <a:off x="4193400" y="185075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chemeClr val="lt1"/>
                </a:solidFill>
              </a:rPr>
              <a:t>5. 지연 특성 변수 생성</a:t>
            </a:r>
            <a:endParaRPr sz="700" b="1">
              <a:solidFill>
                <a:schemeClr val="lt1"/>
              </a:solidFill>
            </a:endParaRPr>
          </a:p>
          <a:p>
            <a:pPr marL="457200" lvl="0" indent="-2730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</a:pPr>
            <a:r>
              <a:rPr lang="ko" sz="700">
                <a:solidFill>
                  <a:schemeClr val="lt1"/>
                </a:solidFill>
              </a:rPr>
              <a:t>입국자수 지연 변수 (1개월전, 3개월전, 12개월전)</a:t>
            </a:r>
            <a:endParaRPr sz="700">
              <a:solidFill>
                <a:schemeClr val="lt1"/>
              </a:solidFill>
            </a:endParaRPr>
          </a:p>
          <a:p>
            <a:pPr marL="45720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</a:pPr>
            <a:r>
              <a:rPr lang="ko" sz="700">
                <a:solidFill>
                  <a:schemeClr val="lt1"/>
                </a:solidFill>
              </a:rPr>
              <a:t>이동평균 변수 (3개월, 12개월)</a:t>
            </a:r>
            <a:endParaRPr sz="700">
              <a:solidFill>
                <a:schemeClr val="lt1"/>
              </a:solidFill>
            </a:endParaRPr>
          </a:p>
          <a:p>
            <a:pPr marL="45720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</a:pPr>
            <a:r>
              <a:rPr lang="ko" sz="700">
                <a:solidFill>
                  <a:schemeClr val="lt1"/>
                </a:solidFill>
              </a:rPr>
              <a:t>전년동월대비 증감률 계산</a:t>
            </a:r>
            <a:endParaRPr sz="7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chemeClr val="lt1"/>
                </a:solidFill>
              </a:rPr>
              <a:t>6. 최종 데이터 저장</a:t>
            </a:r>
            <a:endParaRPr sz="700" b="1">
              <a:solidFill>
                <a:schemeClr val="lt1"/>
              </a:solidFill>
            </a:endParaRPr>
          </a:p>
          <a:p>
            <a:pPr marL="457200" lvl="0" indent="-2730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</a:pPr>
            <a:r>
              <a:rPr lang="ko" sz="700">
                <a:solidFill>
                  <a:schemeClr val="lt1"/>
                </a:solidFill>
              </a:rPr>
              <a:t>UTF-8 인코딩으로 CSV 저장</a:t>
            </a:r>
            <a:endParaRPr sz="700">
              <a:solidFill>
                <a:schemeClr val="lt1"/>
              </a:solidFill>
            </a:endParaRPr>
          </a:p>
          <a:p>
            <a:pPr marL="45720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</a:pPr>
            <a:r>
              <a:rPr lang="ko" sz="700">
                <a:solidFill>
                  <a:schemeClr val="lt1"/>
                </a:solidFill>
              </a:rPr>
              <a:t>딥러닝 모델에 최적화된 15개 컬럼 구성</a:t>
            </a:r>
            <a:endParaRPr sz="7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chemeClr val="lt1"/>
                </a:solidFill>
              </a:rPr>
              <a:t>7. 최종 데이터 특징</a:t>
            </a:r>
            <a:endParaRPr sz="1000" b="1"/>
          </a:p>
        </p:txBody>
      </p:sp>
      <p:graphicFrame>
        <p:nvGraphicFramePr>
          <p:cNvPr id="222" name="Google Shape;222;p22"/>
          <p:cNvGraphicFramePr/>
          <p:nvPr/>
        </p:nvGraphicFramePr>
        <p:xfrm>
          <a:off x="4344625" y="184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{5C906000-5A25-4880-9644-22E727451602}</a:tableStyleId>
              </a:tblPr>
              <a:tblGrid>
                <a:gridCol w="104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 b="1">
                          <a:solidFill>
                            <a:schemeClr val="lt1"/>
                          </a:solidFill>
                        </a:rPr>
                        <a:t>구분</a:t>
                      </a:r>
                      <a:endParaRPr sz="700" b="1">
                        <a:solidFill>
                          <a:schemeClr val="lt1"/>
                        </a:solidFill>
                      </a:endParaRPr>
                    </a:p>
                  </a:txBody>
                  <a:tcPr marL="47625" marR="47625" marT="9525" marB="9525">
                    <a:lnL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 b="1">
                          <a:solidFill>
                            <a:schemeClr val="lt1"/>
                          </a:solidFill>
                        </a:rPr>
                        <a:t>내용</a:t>
                      </a:r>
                      <a:endParaRPr sz="700" b="1">
                        <a:solidFill>
                          <a:schemeClr val="lt1"/>
                        </a:solidFill>
                      </a:endParaRPr>
                    </a:p>
                  </a:txBody>
                  <a:tcPr marL="47625" marR="47625" marT="9525" marB="9525">
                    <a:lnL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>
                          <a:solidFill>
                            <a:schemeClr val="lt1"/>
                          </a:solidFill>
                        </a:rPr>
                        <a:t>데이터 행수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47625" marR="47625" marT="9525" marB="9525">
                    <a:lnL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>
                          <a:solidFill>
                            <a:schemeClr val="lt1"/>
                          </a:solidFill>
                        </a:rPr>
                        <a:t>59,781행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47625" marR="47625" marT="9525" marB="9525">
                    <a:lnL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>
                          <a:solidFill>
                            <a:schemeClr val="lt1"/>
                          </a:solidFill>
                        </a:rPr>
                        <a:t>컬럼 수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47625" marR="47625" marT="9525" marB="9525">
                    <a:lnL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>
                          <a:solidFill>
                            <a:schemeClr val="lt1"/>
                          </a:solidFill>
                        </a:rPr>
                        <a:t>15개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47625" marR="47625" marT="9525" marB="9525">
                    <a:lnL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>
                          <a:solidFill>
                            <a:schemeClr val="lt1"/>
                          </a:solidFill>
                        </a:rPr>
                        <a:t>날짜 범위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47625" marR="47625" marT="9525" marB="9525">
                    <a:lnL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>
                          <a:solidFill>
                            <a:schemeClr val="lt1"/>
                          </a:solidFill>
                        </a:rPr>
                        <a:t>2005년 1월 ~ 2025년 5월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47625" marR="47625" marT="9525" marB="9525">
                    <a:lnL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>
                          <a:solidFill>
                            <a:schemeClr val="lt1"/>
                          </a:solidFill>
                        </a:rPr>
                        <a:t>국적 수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47625" marR="47625" marT="9525" marB="9525">
                    <a:lnL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>
                          <a:solidFill>
                            <a:schemeClr val="lt1"/>
                          </a:solidFill>
                        </a:rPr>
                        <a:t>다양한 국가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47625" marR="47625" marT="9525" marB="9525">
                    <a:lnL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>
                          <a:solidFill>
                            <a:schemeClr val="lt1"/>
                          </a:solidFill>
                        </a:rPr>
                        <a:t>목적 유형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47625" marR="47625" marT="9525" marB="9525">
                    <a:lnL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>
                          <a:solidFill>
                            <a:schemeClr val="lt1"/>
                          </a:solidFill>
                        </a:rPr>
                        <a:t>공용, 유학연수, 관광통과 등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47625" marR="47625" marT="9525" marB="9525">
                    <a:lnL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A9A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3" name="Google Shape;223;p22"/>
          <p:cNvSpPr txBox="1"/>
          <p:nvPr/>
        </p:nvSpPr>
        <p:spPr>
          <a:xfrm>
            <a:off x="4344625" y="3153925"/>
            <a:ext cx="3000000" cy="8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700" b="1">
                <a:solidFill>
                  <a:srgbClr val="F7F1FF"/>
                </a:solidFill>
                <a:highlight>
                  <a:srgbClr val="191919"/>
                </a:highlight>
              </a:rPr>
              <a:t>8.  주요 성과</a:t>
            </a:r>
            <a:endParaRPr sz="700" b="1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609600" lvl="0" indent="-2730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7F1FF"/>
              </a:buClr>
              <a:buSzPts val="700"/>
              <a:buChar char="●"/>
            </a:pPr>
            <a:r>
              <a:rPr lang="ko" sz="700">
                <a:solidFill>
                  <a:srgbClr val="F7F1FF"/>
                </a:solidFill>
                <a:highlight>
                  <a:srgbClr val="191919"/>
                </a:highlight>
              </a:rPr>
              <a:t>객체지향 설계: 재사용 가능한 전처리 클래스 구현</a:t>
            </a:r>
            <a:endParaRPr sz="700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6096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1FF"/>
              </a:buClr>
              <a:buSzPts val="700"/>
              <a:buChar char="●"/>
            </a:pPr>
            <a:r>
              <a:rPr lang="ko" sz="700">
                <a:solidFill>
                  <a:srgbClr val="F7F1FF"/>
                </a:solidFill>
                <a:highlight>
                  <a:srgbClr val="191919"/>
                </a:highlight>
              </a:rPr>
              <a:t>최적화: 정규식 패턴 통합 및 벡터화 연산 적용</a:t>
            </a:r>
            <a:endParaRPr sz="700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6096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1FF"/>
              </a:buClr>
              <a:buSzPts val="700"/>
              <a:buChar char="●"/>
            </a:pPr>
            <a:r>
              <a:rPr lang="ko" sz="700">
                <a:solidFill>
                  <a:srgbClr val="F7F1FF"/>
                </a:solidFill>
                <a:highlight>
                  <a:srgbClr val="191919"/>
                </a:highlight>
              </a:rPr>
              <a:t>안정성: 다중 인코딩 지원 및 예외 처리 강화</a:t>
            </a:r>
            <a:endParaRPr sz="700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6096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1FF"/>
              </a:buClr>
              <a:buSzPts val="700"/>
              <a:buChar char="●"/>
            </a:pPr>
            <a:r>
              <a:rPr lang="ko" sz="700">
                <a:solidFill>
                  <a:srgbClr val="F7F1FF"/>
                </a:solidFill>
                <a:highlight>
                  <a:srgbClr val="191919"/>
                </a:highlight>
              </a:rPr>
              <a:t>모델 적합성: 딥러닝 모델에 필요한 특성 변수 생성</a:t>
            </a:r>
            <a:endParaRPr sz="700">
              <a:solidFill>
                <a:srgbClr val="F7F1FF"/>
              </a:solidFill>
              <a:highlight>
                <a:srgbClr val="191919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1297500" y="1364200"/>
            <a:ext cx="3173700" cy="35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ko" sz="1900" b="1">
                <a:solidFill>
                  <a:srgbClr val="F7F1FF"/>
                </a:solidFill>
                <a:highlight>
                  <a:srgbClr val="191919"/>
                </a:highlight>
              </a:rPr>
              <a:t>추천 딥러닝 모델 3가지</a:t>
            </a:r>
            <a:endParaRPr sz="1900" b="1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0" lvl="0" indent="0" algn="l" rtl="0">
              <a:lnSpc>
                <a:spcPct val="12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F7F1FF"/>
                </a:solidFill>
                <a:highlight>
                  <a:srgbClr val="191919"/>
                </a:highlight>
              </a:rPr>
              <a:t>1. LSTM (Long Short-Term Memory)</a:t>
            </a:r>
            <a:endParaRPr sz="1200" b="1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0" lvl="0" indent="0" algn="l" rtl="0">
              <a:lnSpc>
                <a:spcPct val="132954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F7F1FF"/>
                </a:solidFill>
                <a:highlight>
                  <a:srgbClr val="191919"/>
                </a:highlight>
              </a:rPr>
              <a:t>추천 이유:</a:t>
            </a:r>
            <a:endParaRPr sz="800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609600" lvl="0" indent="-27940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F7F1FF"/>
              </a:buClr>
              <a:buSzPts val="800"/>
              <a:buChar char="●"/>
            </a:pPr>
            <a:r>
              <a:rPr lang="ko" sz="800">
                <a:solidFill>
                  <a:srgbClr val="F7F1FF"/>
                </a:solidFill>
                <a:highlight>
                  <a:srgbClr val="191919"/>
                </a:highlight>
              </a:rPr>
              <a:t>시계열 특성 최적화: 입국자수는 명확한 시계열 패턴을 가짐</a:t>
            </a:r>
            <a:endParaRPr sz="800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6096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1FF"/>
              </a:buClr>
              <a:buSzPts val="800"/>
              <a:buChar char="●"/>
            </a:pPr>
            <a:r>
              <a:rPr lang="ko" sz="800">
                <a:solidFill>
                  <a:srgbClr val="F7F1FF"/>
                </a:solidFill>
                <a:highlight>
                  <a:srgbClr val="191919"/>
                </a:highlight>
              </a:rPr>
              <a:t>장기 의존성 학습: 12개월 전 데이터까지 활용 가능</a:t>
            </a:r>
            <a:endParaRPr sz="800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6096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1FF"/>
              </a:buClr>
              <a:buSzPts val="800"/>
              <a:buChar char="●"/>
            </a:pPr>
            <a:r>
              <a:rPr lang="ko" sz="800">
                <a:solidFill>
                  <a:srgbClr val="F7F1FF"/>
                </a:solidFill>
                <a:highlight>
                  <a:srgbClr val="191919"/>
                </a:highlight>
              </a:rPr>
              <a:t>계절성 패턴 인식: 관광객의 계절별 변화 패턴 학습</a:t>
            </a:r>
            <a:endParaRPr sz="800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6096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1FF"/>
              </a:buClr>
              <a:buSzPts val="800"/>
              <a:buChar char="●"/>
            </a:pPr>
            <a:r>
              <a:rPr lang="ko" sz="800">
                <a:solidFill>
                  <a:srgbClr val="F7F1FF"/>
                </a:solidFill>
                <a:highlight>
                  <a:srgbClr val="191919"/>
                </a:highlight>
              </a:rPr>
              <a:t>코로나 영향 반영: 급격한 변화에도 안정적 학습</a:t>
            </a:r>
            <a:endParaRPr sz="800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0" lvl="0" indent="0" algn="l" rtl="0">
              <a:lnSpc>
                <a:spcPct val="12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F7F1FF"/>
                </a:solidFill>
                <a:highlight>
                  <a:srgbClr val="191919"/>
                </a:highlight>
              </a:rPr>
              <a:t>2. GRU (Gated Recurrent Unit)</a:t>
            </a:r>
            <a:endParaRPr sz="1200" b="1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0" lvl="0" indent="0" algn="l" rtl="0">
              <a:lnSpc>
                <a:spcPct val="132954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F7F1FF"/>
                </a:solidFill>
                <a:highlight>
                  <a:srgbClr val="191919"/>
                </a:highlight>
              </a:rPr>
              <a:t>추천 이유:</a:t>
            </a:r>
            <a:endParaRPr sz="800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609600" lvl="0" indent="-27940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F7F1FF"/>
              </a:buClr>
              <a:buSzPts val="800"/>
              <a:buChar char="●"/>
            </a:pPr>
            <a:r>
              <a:rPr lang="ko" sz="800">
                <a:solidFill>
                  <a:srgbClr val="F7F1FF"/>
                </a:solidFill>
                <a:highlight>
                  <a:srgbClr val="191919"/>
                </a:highlight>
              </a:rPr>
              <a:t>LSTM보다 단순한 구조: 학습 속도가 빠름</a:t>
            </a:r>
            <a:endParaRPr sz="800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6096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1FF"/>
              </a:buClr>
              <a:buSzPts val="800"/>
              <a:buChar char="●"/>
            </a:pPr>
            <a:r>
              <a:rPr lang="ko" sz="800">
                <a:solidFill>
                  <a:srgbClr val="F7F1FF"/>
                </a:solidFill>
                <a:highlight>
                  <a:srgbClr val="191919"/>
                </a:highlight>
              </a:rPr>
              <a:t>메모리 효율성: 파라미터 수가 적어 과적합 위험 낮음</a:t>
            </a:r>
            <a:endParaRPr sz="800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6096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1FF"/>
              </a:buClr>
              <a:buSzPts val="800"/>
              <a:buChar char="●"/>
            </a:pPr>
            <a:r>
              <a:rPr lang="ko" sz="800">
                <a:solidFill>
                  <a:srgbClr val="F7F1FF"/>
                </a:solidFill>
                <a:highlight>
                  <a:srgbClr val="191919"/>
                </a:highlight>
              </a:rPr>
              <a:t>시계열 예측 성능 우수: LSTM과 비슷한 성능, 더 빠른 학습</a:t>
            </a:r>
            <a:endParaRPr sz="800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6096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1FF"/>
              </a:buClr>
              <a:buSzPts val="800"/>
              <a:buChar char="●"/>
            </a:pPr>
            <a:r>
              <a:rPr lang="ko" sz="800">
                <a:solidFill>
                  <a:srgbClr val="F7F1FF"/>
                </a:solidFill>
                <a:highlight>
                  <a:srgbClr val="191919"/>
                </a:highlight>
              </a:rPr>
              <a:t>계절성 및 트렌드 학습: 입국자 패턴의 복잡한 관계 학습</a:t>
            </a:r>
            <a:endParaRPr sz="800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6096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1FF"/>
              </a:buClr>
              <a:buSzPts val="800"/>
              <a:buChar char="●"/>
            </a:pPr>
            <a:endParaRPr sz="800">
              <a:solidFill>
                <a:srgbClr val="F7F1FF"/>
              </a:solidFill>
              <a:highlight>
                <a:srgbClr val="191919"/>
              </a:highlight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4673550" y="1730400"/>
            <a:ext cx="4001100" cy="16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rgbClr val="F7F1FF"/>
                </a:solidFill>
                <a:highlight>
                  <a:srgbClr val="191919"/>
                </a:highlight>
              </a:rPr>
              <a:t>3. Transformer (시계열 전용)</a:t>
            </a:r>
            <a:endParaRPr sz="1500" b="1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0" lvl="0" indent="0" algn="l" rtl="0">
              <a:lnSpc>
                <a:spcPct val="132954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7F1FF"/>
                </a:solidFill>
                <a:highlight>
                  <a:srgbClr val="191919"/>
                </a:highlight>
              </a:rPr>
              <a:t>추천 이유:</a:t>
            </a:r>
            <a:endParaRPr sz="1000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609600" lvl="0" indent="-2984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F7F1FF"/>
              </a:buClr>
              <a:buSzPts val="1100"/>
              <a:buChar char="●"/>
            </a:pPr>
            <a:r>
              <a:rPr lang="ko" sz="1100">
                <a:solidFill>
                  <a:srgbClr val="F7F1FF"/>
                </a:solidFill>
                <a:highlight>
                  <a:srgbClr val="191919"/>
                </a:highlight>
              </a:rPr>
              <a:t>Attention 메커니즘: 중요한 시점의 패턴에 집중</a:t>
            </a:r>
            <a:endParaRPr sz="1100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6096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1FF"/>
              </a:buClr>
              <a:buSzPts val="1100"/>
              <a:buChar char="●"/>
            </a:pPr>
            <a:r>
              <a:rPr lang="ko" sz="1100">
                <a:solidFill>
                  <a:srgbClr val="F7F1FF"/>
                </a:solidFill>
                <a:highlight>
                  <a:srgbClr val="191919"/>
                </a:highlight>
              </a:rPr>
              <a:t>병렬 처리: 학습 속도가 매우 빠름</a:t>
            </a:r>
            <a:endParaRPr sz="1100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6096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1FF"/>
              </a:buClr>
              <a:buSzPts val="1100"/>
              <a:buChar char="●"/>
            </a:pPr>
            <a:r>
              <a:rPr lang="ko" sz="1100">
                <a:solidFill>
                  <a:srgbClr val="F7F1FF"/>
                </a:solidFill>
                <a:highlight>
                  <a:srgbClr val="191919"/>
                </a:highlight>
              </a:rPr>
              <a:t>장거리 의존성: 20년간의 데이터에서 장기 패턴 학습</a:t>
            </a:r>
            <a:endParaRPr sz="1100">
              <a:solidFill>
                <a:srgbClr val="F7F1FF"/>
              </a:solidFill>
              <a:highlight>
                <a:srgbClr val="191919"/>
              </a:highlight>
            </a:endParaRPr>
          </a:p>
          <a:p>
            <a:pPr marL="6096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1FF"/>
              </a:buClr>
              <a:buSzPts val="1100"/>
              <a:buChar char="●"/>
            </a:pPr>
            <a:r>
              <a:rPr lang="ko" sz="1100">
                <a:solidFill>
                  <a:srgbClr val="F7F1FF"/>
                </a:solidFill>
                <a:highlight>
                  <a:srgbClr val="191919"/>
                </a:highlight>
              </a:rPr>
              <a:t>다변량 처리: 국적별, 목적별 상호작용 학습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/>
          <p:nvPr/>
        </p:nvSpPr>
        <p:spPr>
          <a:xfrm>
            <a:off x="4883225" y="2327325"/>
            <a:ext cx="3407100" cy="249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" name="Google Shape;236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4.   웹서비스</a:t>
            </a:r>
            <a:endParaRPr/>
          </a:p>
        </p:txBody>
      </p:sp>
      <p:sp>
        <p:nvSpPr>
          <p:cNvPr id="237" name="Google Shape;237;p24"/>
          <p:cNvSpPr txBox="1">
            <a:spLocks noGrp="1"/>
          </p:cNvSpPr>
          <p:nvPr>
            <p:ph type="title"/>
          </p:nvPr>
        </p:nvSpPr>
        <p:spPr>
          <a:xfrm>
            <a:off x="1297500" y="971238"/>
            <a:ext cx="7688700" cy="4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940"/>
              <a:t>a</a:t>
            </a:r>
            <a:r>
              <a:rPr lang="ko" sz="1940" b="0"/>
              <a:t>. </a:t>
            </a:r>
            <a:r>
              <a:rPr lang="ko" sz="1940"/>
              <a:t>작업분할도 &amp; 순차 다이어그램</a:t>
            </a:r>
            <a:endParaRPr sz="1490" b="0"/>
          </a:p>
        </p:txBody>
      </p:sp>
      <p:sp>
        <p:nvSpPr>
          <p:cNvPr id="238" name="Google Shape;238;p24"/>
          <p:cNvSpPr/>
          <p:nvPr/>
        </p:nvSpPr>
        <p:spPr>
          <a:xfrm>
            <a:off x="4883225" y="1858550"/>
            <a:ext cx="3407100" cy="39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Lato"/>
                <a:ea typeface="Lato"/>
                <a:cs typeface="Lato"/>
                <a:sym typeface="Lato"/>
              </a:rPr>
              <a:t>순차 다이어그램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1262350" y="1858550"/>
            <a:ext cx="3407100" cy="39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Lato"/>
                <a:ea typeface="Lato"/>
                <a:cs typeface="Lato"/>
                <a:sym typeface="Lato"/>
              </a:rPr>
              <a:t>작업분할도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1262350" y="2327325"/>
            <a:ext cx="3407100" cy="249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1451075" y="2567675"/>
            <a:ext cx="917700" cy="3444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300">
                <a:solidFill>
                  <a:schemeClr val="lt1"/>
                </a:solidFill>
              </a:rPr>
              <a:t>Frontend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2016550" y="4263350"/>
            <a:ext cx="1446000" cy="3444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Lato"/>
                <a:ea typeface="Lato"/>
                <a:cs typeface="Lato"/>
                <a:sym typeface="Lato"/>
              </a:rPr>
              <a:t>Bootstrap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2036350" y="3084500"/>
            <a:ext cx="1406400" cy="344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Lato"/>
                <a:ea typeface="Lato"/>
                <a:cs typeface="Lato"/>
                <a:sym typeface="Lato"/>
              </a:rPr>
              <a:t>HTML 템플릿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2036350" y="3673925"/>
            <a:ext cx="1406400" cy="344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Lato"/>
                <a:ea typeface="Lato"/>
                <a:cs typeface="Lato"/>
                <a:sym typeface="Lato"/>
              </a:rPr>
              <a:t>CSS / JS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3482350" y="3088400"/>
            <a:ext cx="917700" cy="3444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Lato"/>
                <a:ea typeface="Lato"/>
                <a:cs typeface="Lato"/>
                <a:sym typeface="Lato"/>
              </a:rPr>
              <a:t>Jinja2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6" name="Google Shape;246;p24"/>
          <p:cNvCxnSpPr>
            <a:stCxn id="241" idx="2"/>
            <a:endCxn id="243" idx="1"/>
          </p:cNvCxnSpPr>
          <p:nvPr/>
        </p:nvCxnSpPr>
        <p:spPr>
          <a:xfrm rot="-5400000" flipH="1">
            <a:off x="1800725" y="3021275"/>
            <a:ext cx="344700" cy="1263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47" name="Google Shape;247;p24"/>
          <p:cNvCxnSpPr>
            <a:stCxn id="241" idx="2"/>
            <a:endCxn id="244" idx="1"/>
          </p:cNvCxnSpPr>
          <p:nvPr/>
        </p:nvCxnSpPr>
        <p:spPr>
          <a:xfrm rot="-5400000" flipH="1">
            <a:off x="1505975" y="3316025"/>
            <a:ext cx="934200" cy="1263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48" name="Google Shape;248;p24"/>
          <p:cNvCxnSpPr>
            <a:stCxn id="241" idx="2"/>
            <a:endCxn id="242" idx="1"/>
          </p:cNvCxnSpPr>
          <p:nvPr/>
        </p:nvCxnSpPr>
        <p:spPr>
          <a:xfrm rot="-5400000" flipH="1">
            <a:off x="1201475" y="3620525"/>
            <a:ext cx="1523400" cy="106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49" name="Google Shape;249;p24"/>
          <p:cNvSpPr/>
          <p:nvPr/>
        </p:nvSpPr>
        <p:spPr>
          <a:xfrm>
            <a:off x="5073775" y="2567675"/>
            <a:ext cx="917700" cy="2550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lt1"/>
                </a:solidFill>
              </a:rPr>
              <a:t>사용자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5959538" y="2889875"/>
            <a:ext cx="999300" cy="255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Lato"/>
                <a:ea typeface="Lato"/>
                <a:cs typeface="Lato"/>
                <a:sym typeface="Lato"/>
              </a:rPr>
              <a:t>모델사용 폼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1" name="Google Shape;251;p24"/>
          <p:cNvCxnSpPr>
            <a:stCxn id="249" idx="2"/>
            <a:endCxn id="250" idx="1"/>
          </p:cNvCxnSpPr>
          <p:nvPr/>
        </p:nvCxnSpPr>
        <p:spPr>
          <a:xfrm rot="-5400000" flipH="1">
            <a:off x="5648725" y="2706575"/>
            <a:ext cx="194700" cy="4269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52" name="Google Shape;252;p24"/>
          <p:cNvSpPr/>
          <p:nvPr/>
        </p:nvSpPr>
        <p:spPr>
          <a:xfrm>
            <a:off x="5959550" y="3622625"/>
            <a:ext cx="999300" cy="2550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Lato"/>
                <a:ea typeface="Lato"/>
                <a:cs typeface="Lato"/>
                <a:sym typeface="Lato"/>
              </a:rPr>
              <a:t>Flask 라우터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7226900" y="3902500"/>
            <a:ext cx="960600" cy="2550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Lato"/>
                <a:ea typeface="Lato"/>
                <a:cs typeface="Lato"/>
                <a:sym typeface="Lato"/>
              </a:rPr>
              <a:t>TensorFlow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7272950" y="3174388"/>
            <a:ext cx="868500" cy="2241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예측함수호출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5" name="Google Shape;255;p24"/>
          <p:cNvCxnSpPr/>
          <p:nvPr/>
        </p:nvCxnSpPr>
        <p:spPr>
          <a:xfrm rot="-5400000" flipH="1">
            <a:off x="6448550" y="3383375"/>
            <a:ext cx="4779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56" name="Google Shape;256;p24"/>
          <p:cNvCxnSpPr>
            <a:stCxn id="252" idx="3"/>
            <a:endCxn id="254" idx="1"/>
          </p:cNvCxnSpPr>
          <p:nvPr/>
        </p:nvCxnSpPr>
        <p:spPr>
          <a:xfrm rot="10800000" flipH="1">
            <a:off x="6958850" y="3286325"/>
            <a:ext cx="314100" cy="463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57" name="Google Shape;257;p24"/>
          <p:cNvCxnSpPr>
            <a:stCxn id="254" idx="2"/>
            <a:endCxn id="253" idx="0"/>
          </p:cNvCxnSpPr>
          <p:nvPr/>
        </p:nvCxnSpPr>
        <p:spPr>
          <a:xfrm rot="-5400000" flipH="1">
            <a:off x="7455500" y="3650188"/>
            <a:ext cx="504000" cy="6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58" name="Google Shape;258;p24"/>
          <p:cNvSpPr/>
          <p:nvPr/>
        </p:nvSpPr>
        <p:spPr>
          <a:xfrm>
            <a:off x="5098375" y="4399688"/>
            <a:ext cx="868500" cy="2241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결과값 반환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9" name="Google Shape;259;p24"/>
          <p:cNvCxnSpPr>
            <a:stCxn id="253" idx="2"/>
            <a:endCxn id="260" idx="3"/>
          </p:cNvCxnSpPr>
          <p:nvPr/>
        </p:nvCxnSpPr>
        <p:spPr>
          <a:xfrm rot="5400000">
            <a:off x="7308650" y="4113250"/>
            <a:ext cx="354300" cy="4428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61" name="Google Shape;261;p24"/>
          <p:cNvCxnSpPr>
            <a:stCxn id="258" idx="0"/>
            <a:endCxn id="252" idx="1"/>
          </p:cNvCxnSpPr>
          <p:nvPr/>
        </p:nvCxnSpPr>
        <p:spPr>
          <a:xfrm rot="-5400000">
            <a:off x="5421325" y="3861488"/>
            <a:ext cx="649500" cy="4269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62" name="Google Shape;262;p24"/>
          <p:cNvCxnSpPr/>
          <p:nvPr/>
        </p:nvCxnSpPr>
        <p:spPr>
          <a:xfrm rot="-5400000" flipH="1">
            <a:off x="5991350" y="3383375"/>
            <a:ext cx="4779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260" name="Google Shape;260;p24"/>
          <p:cNvSpPr/>
          <p:nvPr/>
        </p:nvSpPr>
        <p:spPr>
          <a:xfrm>
            <a:off x="6395800" y="4399688"/>
            <a:ext cx="868500" cy="2241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결과값 생성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3" name="Google Shape;263;p24"/>
          <p:cNvCxnSpPr>
            <a:stCxn id="260" idx="1"/>
            <a:endCxn id="258" idx="3"/>
          </p:cNvCxnSpPr>
          <p:nvPr/>
        </p:nvCxnSpPr>
        <p:spPr>
          <a:xfrm flipH="1">
            <a:off x="5966800" y="4511738"/>
            <a:ext cx="429000" cy="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4.   웹서비스</a:t>
            </a:r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title"/>
          </p:nvPr>
        </p:nvSpPr>
        <p:spPr>
          <a:xfrm>
            <a:off x="1297500" y="971238"/>
            <a:ext cx="7688700" cy="4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940"/>
              <a:t>b</a:t>
            </a:r>
            <a:r>
              <a:rPr lang="ko" sz="1940" b="0"/>
              <a:t>. </a:t>
            </a:r>
            <a:r>
              <a:rPr lang="ko" sz="1940"/>
              <a:t>시연 화면</a:t>
            </a:r>
            <a:endParaRPr sz="1490" b="0"/>
          </a:p>
        </p:txBody>
      </p:sp>
      <p:sp>
        <p:nvSpPr>
          <p:cNvPr id="270" name="Google Shape;270;p25"/>
          <p:cNvSpPr/>
          <p:nvPr/>
        </p:nvSpPr>
        <p:spPr>
          <a:xfrm>
            <a:off x="1297500" y="1611225"/>
            <a:ext cx="7130400" cy="333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1338150" y="1645625"/>
            <a:ext cx="6957600" cy="4269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1542350" y="1714475"/>
            <a:ext cx="902100" cy="28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Lato"/>
                <a:ea typeface="Lato"/>
                <a:cs typeface="Lato"/>
                <a:sym typeface="Lato"/>
              </a:rPr>
              <a:t>일본    ▼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2562300" y="1714475"/>
            <a:ext cx="1438200" cy="28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Lato"/>
                <a:ea typeface="Lato"/>
                <a:cs typeface="Lato"/>
                <a:sym typeface="Lato"/>
              </a:rPr>
              <a:t>2026년 - 1월  ▼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4" name="Google Shape;274;p25" title="스크린샷 2025-07-09 오후 2.24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363" y="2144775"/>
            <a:ext cx="6695173" cy="268722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75" name="Google Shape;275;p25"/>
          <p:cNvSpPr/>
          <p:nvPr/>
        </p:nvSpPr>
        <p:spPr>
          <a:xfrm>
            <a:off x="4422750" y="1714475"/>
            <a:ext cx="1438200" cy="289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Lato"/>
                <a:ea typeface="Lato"/>
                <a:cs typeface="Lato"/>
                <a:sym typeface="Lato"/>
              </a:rPr>
              <a:t>2026년 - 5월  ▼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4067913" y="1714475"/>
            <a:ext cx="287400" cy="2892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~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7037925" y="4550875"/>
            <a:ext cx="722100" cy="24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895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2026년</a:t>
            </a:r>
            <a:endParaRPr sz="895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6699625" y="2237800"/>
            <a:ext cx="1404600" cy="2038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FF00">
                <a:alpha val="62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" name="Google Shape;279;p25"/>
          <p:cNvSpPr txBox="1"/>
          <p:nvPr/>
        </p:nvSpPr>
        <p:spPr>
          <a:xfrm>
            <a:off x="2335150" y="2263600"/>
            <a:ext cx="626400" cy="24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795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일본 (관광)</a:t>
            </a:r>
            <a:endParaRPr sz="494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3231175" y="2263600"/>
            <a:ext cx="626400" cy="24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795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일본 (상용)</a:t>
            </a:r>
            <a:endParaRPr sz="494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" name="Google Shape;281;p25"/>
          <p:cNvSpPr txBox="1"/>
          <p:nvPr/>
        </p:nvSpPr>
        <p:spPr>
          <a:xfrm>
            <a:off x="4127200" y="2263600"/>
            <a:ext cx="626400" cy="24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795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일본 (유학)</a:t>
            </a:r>
            <a:endParaRPr sz="494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감사합니다.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7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latin typeface="Lato"/>
                <a:ea typeface="Lato"/>
                <a:cs typeface="Lato"/>
                <a:sym typeface="Lato"/>
              </a:rPr>
              <a:t>대한민국 외국인 입국자 수 및 목적별 예측 모델 개발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2" name="Google Shape;292;p27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2025.07.25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1056</Words>
  <Application>Microsoft Office PowerPoint</Application>
  <PresentationFormat>화면 슬라이드 쇼(16:9)</PresentationFormat>
  <Paragraphs>206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Lato</vt:lpstr>
      <vt:lpstr>Arial</vt:lpstr>
      <vt:lpstr>Raleway</vt:lpstr>
      <vt:lpstr>Montserrat</vt:lpstr>
      <vt:lpstr>Focus</vt:lpstr>
      <vt:lpstr>대한민국 외국인 입국자 수 빅데이터 예츠</vt:lpstr>
      <vt:lpstr>목 차</vt:lpstr>
      <vt:lpstr>a. 주제선정 및 배경 </vt:lpstr>
      <vt:lpstr>서론</vt:lpstr>
      <vt:lpstr>서론</vt:lpstr>
      <vt:lpstr>서론</vt:lpstr>
      <vt:lpstr>서론</vt:lpstr>
      <vt:lpstr>서론</vt:lpstr>
      <vt:lpstr>서론</vt:lpstr>
      <vt:lpstr>3.   ML &amp; DL 구현</vt:lpstr>
      <vt:lpstr>PowerPoint 프레젠테이션</vt:lpstr>
      <vt:lpstr>4.   웹서비스</vt:lpstr>
      <vt:lpstr>4.   웹서비스</vt:lpstr>
      <vt:lpstr>감사합니다.</vt:lpstr>
      <vt:lpstr>대한민국 외국인 입국자 수 및 목적별 예측 모델 개발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cp:revision>1</cp:revision>
  <dcterms:modified xsi:type="dcterms:W3CDTF">2025-07-23T08:51:54Z</dcterms:modified>
</cp:coreProperties>
</file>